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7"/>
    <p:restoredTop sz="94658"/>
  </p:normalViewPr>
  <p:slideViewPr>
    <p:cSldViewPr snapToGrid="0">
      <p:cViewPr varScale="1">
        <p:scale>
          <a:sx n="120" d="100"/>
          <a:sy n="120" d="100"/>
        </p:scale>
        <p:origin x="8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C4909A-61BB-B949-818C-B429FC9EFBB9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D4CEA-89E1-C34C-B67D-63A94EE4DE3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11D51-D478-934E-84C3-29EF2309F27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326AC-C594-D441-B318-03C427863D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11D51-D478-934E-84C3-29EF2309F27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326AC-C594-D441-B318-03C427863D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11D51-D478-934E-84C3-29EF2309F27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326AC-C594-D441-B318-03C427863D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11D51-D478-934E-84C3-29EF2309F27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326AC-C594-D441-B318-03C427863D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11D51-D478-934E-84C3-29EF2309F27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326AC-C594-D441-B318-03C427863D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11D51-D478-934E-84C3-29EF2309F27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326AC-C594-D441-B318-03C427863D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11D51-D478-934E-84C3-29EF2309F27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326AC-C594-D441-B318-03C427863D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11D51-D478-934E-84C3-29EF2309F27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326AC-C594-D441-B318-03C427863D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11D51-D478-934E-84C3-29EF2309F27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326AC-C594-D441-B318-03C427863D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11D51-D478-934E-84C3-29EF2309F27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326AC-C594-D441-B318-03C427863D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11D51-D478-934E-84C3-29EF2309F27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326AC-C594-D441-B318-03C427863D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411D51-D478-934E-84C3-29EF2309F27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3326AC-C594-D441-B318-03C427863D3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/>
          <p:cNvSpPr/>
          <p:nvPr/>
        </p:nvSpPr>
        <p:spPr>
          <a:xfrm>
            <a:off x="879495" y="1122363"/>
            <a:ext cx="10433010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Machine Learning Based Stock Direction Prediction</a:t>
            </a:r>
            <a:endParaRPr lang="en-US" sz="3200" dirty="0"/>
          </a:p>
        </p:txBody>
      </p:sp>
      <p:sp>
        <p:nvSpPr>
          <p:cNvPr id="6" name="Text 1"/>
          <p:cNvSpPr/>
          <p:nvPr/>
        </p:nvSpPr>
        <p:spPr>
          <a:xfrm>
            <a:off x="879495" y="1816007"/>
            <a:ext cx="8197810" cy="3551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 – Short Term Memory (LSTM) based model</a:t>
            </a:r>
            <a:endParaRPr lang="en-US" sz="1750" dirty="0"/>
          </a:p>
        </p:txBody>
      </p:sp>
      <p:sp>
        <p:nvSpPr>
          <p:cNvPr id="7" name="TextBox 6"/>
          <p:cNvSpPr txBox="1"/>
          <p:nvPr/>
        </p:nvSpPr>
        <p:spPr>
          <a:xfrm>
            <a:off x="879495" y="5198714"/>
            <a:ext cx="3483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 Komal Kumari (E23CSEU0784)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79453" y="2300961"/>
            <a:ext cx="7315200" cy="665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CSET419 – Introduction to Generative Artificial Intelligence</a:t>
            </a:r>
            <a:endParaRPr lang="en-US" sz="1800" dirty="0">
              <a:solidFill>
                <a:srgbClr val="67534F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0" indent="0" algn="l">
              <a:lnSpc>
                <a:spcPts val="2300"/>
              </a:lnSpc>
              <a:buNone/>
            </a:pPr>
            <a:r>
              <a:rPr lang="en-US" dirty="0">
                <a:solidFill>
                  <a:srgbClr val="67534F"/>
                </a:solidFill>
                <a:latin typeface="Montserrat" pitchFamily="34" charset="0"/>
              </a:rPr>
              <a:t>Faculty Member – Mr. Prashant Kumar</a:t>
            </a:r>
            <a:endParaRPr lang="en-US" dirty="0">
              <a:solidFill>
                <a:srgbClr val="67534F"/>
              </a:solidFill>
              <a:latin typeface="Montserrat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9495" y="5625321"/>
            <a:ext cx="7315200" cy="668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dirty="0">
                <a:solidFill>
                  <a:srgbClr val="67534F"/>
                </a:solidFill>
                <a:latin typeface="Montserrat" pitchFamily="34" charset="0"/>
              </a:rPr>
              <a:t>School of Computer Science Engineering and Technology  | </a:t>
            </a:r>
            <a:endParaRPr lang="en-US" dirty="0">
              <a:solidFill>
                <a:srgbClr val="67534F"/>
              </a:solidFill>
              <a:latin typeface="Montserrat" pitchFamily="34" charset="0"/>
            </a:endParaRPr>
          </a:p>
          <a:p>
            <a:pPr marL="0" indent="0" algn="l">
              <a:lnSpc>
                <a:spcPts val="2300"/>
              </a:lnSpc>
              <a:buNone/>
            </a:pPr>
            <a:r>
              <a:rPr lang="en-US" dirty="0">
                <a:solidFill>
                  <a:srgbClr val="67534F"/>
                </a:solidFill>
                <a:latin typeface="Montserrat" pitchFamily="34" charset="0"/>
              </a:rPr>
              <a:t>Bennett University</a:t>
            </a:r>
            <a:endParaRPr lang="en-US" dirty="0">
              <a:solidFill>
                <a:srgbClr val="67534F"/>
              </a:solidFill>
              <a:latin typeface="Montserrat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5045" y="29655"/>
            <a:ext cx="1968499" cy="11248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116" y="705647"/>
            <a:ext cx="10515600" cy="759731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The Core Problem</a:t>
            </a:r>
            <a:endParaRPr lang="en-US" sz="3200" b="1" dirty="0">
              <a:solidFill>
                <a:srgbClr val="000000"/>
              </a:solidFill>
              <a:latin typeface="Inter Bold" pitchFamily="34" charset="0"/>
              <a:ea typeface="Inter Bold" pitchFamily="3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116" y="1968500"/>
            <a:ext cx="4848497" cy="43516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Predicting stock market is really challenging due to the it’s fast changing nature. Traditional approaches using fundamentals and technical indicators often struggle with short-term predictions.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This project focuses on intraday predictions using 3-minute candlestick data. 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The objective is to predict the next 9- minute direction based on the last 60 minutes pattern.</a:t>
            </a:r>
            <a:endParaRPr lang="en-US" sz="2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0389" y="2683841"/>
            <a:ext cx="5194300" cy="2921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5045" y="29655"/>
            <a:ext cx="1968499" cy="11248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116" y="705647"/>
            <a:ext cx="10515600" cy="759731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Proposed Solution</a:t>
            </a:r>
            <a:endParaRPr lang="en-US" sz="3200" b="1" dirty="0">
              <a:solidFill>
                <a:srgbClr val="000000"/>
              </a:solidFill>
              <a:latin typeface="Inter Bold" pitchFamily="34" charset="0"/>
              <a:ea typeface="Inter Bold" pitchFamily="3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116" y="1830503"/>
            <a:ext cx="10625768" cy="2506365"/>
          </a:xfrm>
        </p:spPr>
        <p:txBody>
          <a:bodyPr>
            <a:normAutofit/>
          </a:bodyPr>
          <a:lstStyle/>
          <a:p>
            <a:r>
              <a:rPr lang="en-US" sz="2000" dirty="0"/>
              <a:t>A LSTM – based model was used to capture the patterns in the time series dataset. The dataset used is a 3-minute candlestick data with a 60-minute sliding window.</a:t>
            </a:r>
            <a:endParaRPr lang="en-US" sz="2000" dirty="0"/>
          </a:p>
          <a:p>
            <a:r>
              <a:rPr lang="en-US" sz="2000" dirty="0"/>
              <a:t>The learning was enhanced with 22 features to recognize patterns and movements.</a:t>
            </a:r>
            <a:endParaRPr lang="en-US" sz="2000" dirty="0"/>
          </a:p>
          <a:p>
            <a:r>
              <a:rPr lang="en-US" sz="2000" dirty="0"/>
              <a:t>Applied noise filtering threshold to ignore insignificant price movements.</a:t>
            </a:r>
            <a:endParaRPr lang="en-US" sz="2000" dirty="0"/>
          </a:p>
          <a:p>
            <a:r>
              <a:rPr lang="en-US" sz="2000" dirty="0"/>
              <a:t>Formulated the problem as classification task instead of predicting actual prices.</a:t>
            </a:r>
            <a:endParaRPr lang="en-US" sz="2000" dirty="0"/>
          </a:p>
          <a:p>
            <a:r>
              <a:rPr lang="en-US" sz="2000" dirty="0"/>
              <a:t>Evaluated performance using a </a:t>
            </a:r>
            <a:r>
              <a:rPr lang="en-US" sz="2000" dirty="0" err="1"/>
              <a:t>backtesting</a:t>
            </a:r>
            <a:r>
              <a:rPr lang="en-US" sz="2000" dirty="0"/>
              <a:t> framework.</a:t>
            </a:r>
            <a:endParaRPr lang="en-US" sz="20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016" y="4608920"/>
            <a:ext cx="10897967" cy="61171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5045" y="29655"/>
            <a:ext cx="1968499" cy="11248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116" y="705647"/>
            <a:ext cx="10515600" cy="759731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Data Collection &amp; pre-processing</a:t>
            </a:r>
            <a:endParaRPr lang="en-US" sz="3200" b="1" dirty="0">
              <a:solidFill>
                <a:srgbClr val="000000"/>
              </a:solidFill>
              <a:latin typeface="Inter Bold" pitchFamily="34" charset="0"/>
              <a:ea typeface="Inter Bold" pitchFamily="3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116" y="1830503"/>
            <a:ext cx="10625768" cy="1598497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/>
              <a:t>Data sourced using Angel One </a:t>
            </a:r>
            <a:r>
              <a:rPr lang="en-US" sz="2000" dirty="0" err="1"/>
              <a:t>SmartAPI</a:t>
            </a:r>
            <a:endParaRPr lang="en-US" sz="2000" dirty="0"/>
          </a:p>
          <a:p>
            <a:r>
              <a:rPr lang="en-IN" sz="2000" dirty="0"/>
              <a:t>Collected 3-minute candlestick data (OHLCV) for intraday</a:t>
            </a:r>
            <a:endParaRPr lang="en-IN" sz="2000" dirty="0"/>
          </a:p>
          <a:p>
            <a:r>
              <a:rPr lang="en-IN" sz="2000" dirty="0"/>
              <a:t>Introduced a noise filtering threshold (±0.05%), so that the movements between this range is treated as noise.</a:t>
            </a:r>
            <a:endParaRPr lang="en-IN" sz="2000" dirty="0"/>
          </a:p>
          <a:p>
            <a:r>
              <a:rPr lang="en-IN" sz="2000" dirty="0"/>
              <a:t>Converts raw price movement into clean directional signals</a:t>
            </a:r>
            <a:endParaRPr lang="en-IN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967" y="3429000"/>
            <a:ext cx="9953897" cy="313070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5045" y="29655"/>
            <a:ext cx="1968499" cy="11248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116" y="705647"/>
            <a:ext cx="10515600" cy="759731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Feature Engineering</a:t>
            </a:r>
            <a:endParaRPr lang="en-US" sz="3200" b="1" dirty="0">
              <a:solidFill>
                <a:srgbClr val="000000"/>
              </a:solidFill>
              <a:latin typeface="Inter Bold" pitchFamily="34" charset="0"/>
              <a:ea typeface="Inter Bold" pitchFamily="3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116" y="1604081"/>
            <a:ext cx="10625768" cy="416308"/>
          </a:xfrm>
        </p:spPr>
        <p:txBody>
          <a:bodyPr>
            <a:normAutofit/>
          </a:bodyPr>
          <a:lstStyle/>
          <a:p>
            <a:r>
              <a:rPr lang="en-IN" sz="2000" dirty="0"/>
              <a:t>22 total features were created to provide a multi-dimensional view of the market</a:t>
            </a:r>
            <a:endParaRPr lang="en-IN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1035665" y="2159092"/>
            <a:ext cx="4842621" cy="1754326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IN" b="1" dirty="0"/>
              <a:t>Price &amp; Volume (5)</a:t>
            </a:r>
            <a:endParaRPr lang="en-IN" dirty="0"/>
          </a:p>
          <a:p>
            <a:r>
              <a:rPr lang="en-IN" dirty="0"/>
              <a:t>Open </a:t>
            </a:r>
            <a:endParaRPr lang="en-IN" dirty="0"/>
          </a:p>
          <a:p>
            <a:r>
              <a:rPr lang="en-IN" dirty="0"/>
              <a:t>High </a:t>
            </a:r>
            <a:endParaRPr lang="en-IN" dirty="0"/>
          </a:p>
          <a:p>
            <a:r>
              <a:rPr lang="en-IN" dirty="0"/>
              <a:t>Low </a:t>
            </a:r>
            <a:endParaRPr lang="en-IN" dirty="0"/>
          </a:p>
          <a:p>
            <a:r>
              <a:rPr lang="en-IN" dirty="0"/>
              <a:t>Close </a:t>
            </a:r>
            <a:endParaRPr lang="en-IN" dirty="0"/>
          </a:p>
          <a:p>
            <a:r>
              <a:rPr lang="en-IN" dirty="0"/>
              <a:t>Volume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1035666" y="4121028"/>
            <a:ext cx="4842621" cy="230832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IN" b="1" dirty="0"/>
              <a:t>Momentum &amp; Trend (6)</a:t>
            </a:r>
            <a:endParaRPr lang="en-IN" dirty="0"/>
          </a:p>
          <a:p>
            <a:r>
              <a:rPr lang="en-IN" dirty="0"/>
              <a:t>RSI (Relative Strength Index) </a:t>
            </a:r>
            <a:endParaRPr lang="en-IN" dirty="0"/>
          </a:p>
          <a:p>
            <a:r>
              <a:rPr lang="en-IN" dirty="0"/>
              <a:t>RSI Fast </a:t>
            </a:r>
            <a:endParaRPr lang="en-IN" dirty="0"/>
          </a:p>
          <a:p>
            <a:r>
              <a:rPr lang="en-IN" dirty="0"/>
              <a:t>EMA Ratio </a:t>
            </a:r>
            <a:endParaRPr lang="en-IN" dirty="0"/>
          </a:p>
          <a:p>
            <a:r>
              <a:rPr lang="en-IN" dirty="0"/>
              <a:t>Price EMA Distance </a:t>
            </a:r>
            <a:endParaRPr lang="en-IN" dirty="0"/>
          </a:p>
          <a:p>
            <a:r>
              <a:rPr lang="en-IN" dirty="0"/>
              <a:t>Diff 1 (1-period price change) </a:t>
            </a:r>
            <a:endParaRPr lang="en-IN" dirty="0"/>
          </a:p>
          <a:p>
            <a:r>
              <a:rPr lang="en-IN" dirty="0"/>
              <a:t>Diff 5 (5-period price change)</a:t>
            </a:r>
            <a:endParaRPr lang="en-IN" dirty="0"/>
          </a:p>
          <a:p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6096001" y="2159092"/>
            <a:ext cx="4842621" cy="1754326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IN" b="1" dirty="0"/>
              <a:t>Volatility &amp; Risk (4)</a:t>
            </a:r>
            <a:endParaRPr lang="en-IN" dirty="0"/>
          </a:p>
          <a:p>
            <a:r>
              <a:rPr lang="en-IN" dirty="0"/>
              <a:t>Bollinger Band Width </a:t>
            </a:r>
            <a:endParaRPr lang="en-IN" dirty="0"/>
          </a:p>
          <a:p>
            <a:r>
              <a:rPr lang="en-IN" dirty="0"/>
              <a:t>ATR (Average True Range) </a:t>
            </a:r>
            <a:endParaRPr lang="en-IN" dirty="0"/>
          </a:p>
          <a:p>
            <a:r>
              <a:rPr lang="en-IN" dirty="0"/>
              <a:t>Rolling Standard Deviation </a:t>
            </a:r>
            <a:endParaRPr lang="en-IN" dirty="0"/>
          </a:p>
          <a:p>
            <a:r>
              <a:rPr lang="en-IN" dirty="0"/>
              <a:t>High-Low Range</a:t>
            </a:r>
            <a:endParaRPr lang="en-IN" dirty="0"/>
          </a:p>
          <a:p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6096000" y="4121028"/>
            <a:ext cx="4842621" cy="230832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IN" b="1" dirty="0"/>
              <a:t>Price Change &amp; Dynamics (7)</a:t>
            </a:r>
            <a:endParaRPr lang="en-IN" dirty="0"/>
          </a:p>
          <a:p>
            <a:r>
              <a:rPr lang="en-IN" dirty="0"/>
              <a:t>Return 1 </a:t>
            </a:r>
            <a:endParaRPr lang="en-IN" dirty="0"/>
          </a:p>
          <a:p>
            <a:r>
              <a:rPr lang="en-IN" dirty="0"/>
              <a:t>Return 5 </a:t>
            </a:r>
            <a:endParaRPr lang="en-IN" dirty="0"/>
          </a:p>
          <a:p>
            <a:r>
              <a:rPr lang="en-IN" dirty="0"/>
              <a:t>Return 10 </a:t>
            </a:r>
            <a:endParaRPr lang="en-IN" dirty="0"/>
          </a:p>
          <a:p>
            <a:r>
              <a:rPr lang="en-IN" dirty="0"/>
              <a:t>Candle Body </a:t>
            </a:r>
            <a:endParaRPr lang="en-IN" dirty="0"/>
          </a:p>
          <a:p>
            <a:r>
              <a:rPr lang="en-IN" dirty="0"/>
              <a:t>Volume Ratio </a:t>
            </a:r>
            <a:endParaRPr lang="en-IN" dirty="0"/>
          </a:p>
          <a:p>
            <a:r>
              <a:rPr lang="en-IN" dirty="0"/>
              <a:t>Raw Body </a:t>
            </a:r>
            <a:endParaRPr lang="en-IN" dirty="0"/>
          </a:p>
          <a:p>
            <a:r>
              <a:rPr lang="en-IN" dirty="0"/>
              <a:t>Raw Range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5045" y="29655"/>
            <a:ext cx="1968499" cy="11248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116" y="705647"/>
            <a:ext cx="10515600" cy="759731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Model Architecture</a:t>
            </a:r>
            <a:endParaRPr lang="en-US" sz="3200" b="1" dirty="0">
              <a:solidFill>
                <a:srgbClr val="000000"/>
              </a:solidFill>
              <a:latin typeface="Inter Bold" pitchFamily="34" charset="0"/>
              <a:ea typeface="Inter Bold" pitchFamily="3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116" y="1604081"/>
            <a:ext cx="10625768" cy="1548422"/>
          </a:xfrm>
        </p:spPr>
        <p:txBody>
          <a:bodyPr>
            <a:normAutofit fontScale="25000" lnSpcReduction="20000"/>
          </a:bodyPr>
          <a:lstStyle/>
          <a:p>
            <a:r>
              <a:rPr lang="en-IN" sz="8000" dirty="0"/>
              <a:t>Sequential Input: Takes 20 candles (60 minutes) as a single sequence.</a:t>
            </a:r>
            <a:endParaRPr lang="en-IN" sz="8000" dirty="0"/>
          </a:p>
          <a:p>
            <a:r>
              <a:rPr lang="en-IN" sz="8000" dirty="0"/>
              <a:t>Dual-Layer LSTM: Extracts temporal patterns and momentum from the sequence.</a:t>
            </a:r>
            <a:endParaRPr lang="en-IN" sz="8000" dirty="0"/>
          </a:p>
          <a:p>
            <a:r>
              <a:rPr lang="en-IN" sz="8000" dirty="0"/>
              <a:t>Dropout Layer: Clips unnecessary neural connections to prevent overfitting.</a:t>
            </a:r>
            <a:endParaRPr lang="en-IN" sz="8000" dirty="0"/>
          </a:p>
          <a:p>
            <a:r>
              <a:rPr lang="en-IN" sz="8000" dirty="0"/>
              <a:t>Sigmoid Output: Compresses the final logic into a single probability (0 to 1) for directional forecasting</a:t>
            </a:r>
            <a:r>
              <a:rPr lang="en-IN" dirty="0"/>
              <a:t>.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865" y="4155692"/>
            <a:ext cx="11138270" cy="105999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5045" y="29655"/>
            <a:ext cx="1968499" cy="11248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116" y="705647"/>
            <a:ext cx="10515600" cy="759731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Training</a:t>
            </a:r>
            <a:endParaRPr lang="en-US" sz="3200" b="1" dirty="0">
              <a:solidFill>
                <a:srgbClr val="000000"/>
              </a:solidFill>
              <a:latin typeface="Inter Bold" pitchFamily="34" charset="0"/>
              <a:ea typeface="Inter Bold" pitchFamily="3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116" y="1604081"/>
            <a:ext cx="10625768" cy="3168216"/>
          </a:xfrm>
        </p:spPr>
        <p:txBody>
          <a:bodyPr>
            <a:noAutofit/>
          </a:bodyPr>
          <a:lstStyle/>
          <a:p>
            <a:r>
              <a:rPr lang="en-IN" sz="1800" dirty="0"/>
              <a:t>Time-Series Split: We use the first 80% of data to train and the last 20% to validate, ensuring the model never "sees the future."</a:t>
            </a:r>
            <a:endParaRPr lang="en-IN" sz="1800" dirty="0"/>
          </a:p>
          <a:p>
            <a:r>
              <a:rPr lang="en-IN" sz="1800" dirty="0"/>
              <a:t>Best Model Persistence: Only the version of the model with the absolute lowest validation error is saved as </a:t>
            </a:r>
            <a:r>
              <a:rPr lang="en-IN" sz="1800" dirty="0" err="1"/>
              <a:t>best_stock_model.pth</a:t>
            </a:r>
            <a:r>
              <a:rPr lang="en-IN" sz="1800" dirty="0"/>
              <a:t>.</a:t>
            </a:r>
            <a:endParaRPr lang="en-IN" sz="1800" dirty="0"/>
          </a:p>
          <a:p>
            <a:r>
              <a:rPr lang="en-IN" sz="1800" dirty="0"/>
              <a:t>Early Stopping: If the model stops improving for 10 consecutive epochs, the system automatically cuts the training to prevent noise-fitting.</a:t>
            </a:r>
            <a:endParaRPr lang="en-IN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3" y="4120369"/>
            <a:ext cx="10137433" cy="247000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5045" y="29655"/>
            <a:ext cx="1968499" cy="11248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116" y="705647"/>
            <a:ext cx="10515600" cy="759731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Evaluation &amp; </a:t>
            </a:r>
            <a:r>
              <a:rPr lang="en-US" sz="3200" b="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Backtesting</a:t>
            </a:r>
            <a:endParaRPr lang="en-US" sz="3200" b="1" dirty="0">
              <a:solidFill>
                <a:srgbClr val="000000"/>
              </a:solidFill>
              <a:latin typeface="Inter Bold" pitchFamily="34" charset="0"/>
              <a:ea typeface="Inter Bold" pitchFamily="3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116" y="1604081"/>
            <a:ext cx="10625768" cy="1992559"/>
          </a:xfrm>
        </p:spPr>
        <p:txBody>
          <a:bodyPr>
            <a:noAutofit/>
          </a:bodyPr>
          <a:lstStyle/>
          <a:p>
            <a:r>
              <a:rPr lang="en-IN" sz="1800" dirty="0"/>
              <a:t>Dual-Audit Framework: We don't just use AI metrics (Accuracy), we use Financial metrics (Sharpe/Net Profit) to cross-verify the model.</a:t>
            </a:r>
            <a:endParaRPr lang="en-IN" sz="1800" dirty="0"/>
          </a:p>
          <a:p>
            <a:r>
              <a:rPr lang="en-IN" sz="1800" dirty="0"/>
              <a:t>Confusion Matrix: Shows exactly how many "True Positives" (correct Up predictions) vs "False Positives" (wrong Up predictions) the model made.</a:t>
            </a:r>
            <a:endParaRPr lang="en-IN" sz="1800" dirty="0"/>
          </a:p>
          <a:p>
            <a:r>
              <a:rPr lang="en-IN" sz="1800" dirty="0"/>
              <a:t>Equity Curve: This is the most realistic proof. It tracks the growth of ₹1 over the entire test period based on the model's 9-minute directional calls.</a:t>
            </a:r>
            <a:endParaRPr lang="en-IN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9783" y="4170772"/>
            <a:ext cx="3010263" cy="225769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5885" y="4085626"/>
            <a:ext cx="4855976" cy="242798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5045" y="29655"/>
            <a:ext cx="1968499" cy="11248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116" y="705647"/>
            <a:ext cx="10515600" cy="759731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Conclusion &amp; Result</a:t>
            </a:r>
            <a:endParaRPr lang="en-US" sz="3200" b="1" dirty="0">
              <a:solidFill>
                <a:srgbClr val="000000"/>
              </a:solidFill>
              <a:latin typeface="Inter Bold" pitchFamily="34" charset="0"/>
              <a:ea typeface="Inter Bold" pitchFamily="3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116" y="1604082"/>
            <a:ext cx="10625768" cy="947530"/>
          </a:xfrm>
        </p:spPr>
        <p:txBody>
          <a:bodyPr>
            <a:noAutofit/>
          </a:bodyPr>
          <a:lstStyle/>
          <a:p>
            <a:r>
              <a:rPr lang="en-IN" sz="1800" dirty="0"/>
              <a:t>The performance of the proposed LSTM-based framework was evaluated across five diverse datasets: Abbott India, Britannia, Nestle, Reliance, and the </a:t>
            </a:r>
            <a:r>
              <a:rPr lang="en-IN" sz="1800" dirty="0" err="1"/>
              <a:t>Niftybees</a:t>
            </a:r>
            <a:r>
              <a:rPr lang="en-IN" sz="1800" dirty="0"/>
              <a:t> ETF. The goal was to assess if the model could maintain a predictive edge in different volatility regimes and asset classes</a:t>
            </a:r>
            <a:endParaRPr lang="en-IN" sz="18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669" y="3429000"/>
            <a:ext cx="10318662" cy="211210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5045" y="29655"/>
            <a:ext cx="1968499" cy="11248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04286" y="3136612"/>
            <a:ext cx="19834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Thank You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3440</Words>
  <Application>WPS Writer</Application>
  <PresentationFormat>Widescreen</PresentationFormat>
  <Paragraphs>96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32" baseType="lpstr">
      <vt:lpstr>Arial</vt:lpstr>
      <vt:lpstr>SimSun</vt:lpstr>
      <vt:lpstr>Wingdings</vt:lpstr>
      <vt:lpstr>Inter Bold</vt:lpstr>
      <vt:lpstr>苹方-简</vt:lpstr>
      <vt:lpstr>Inter Bold</vt:lpstr>
      <vt:lpstr>Inter Bold</vt:lpstr>
      <vt:lpstr>Inter</vt:lpstr>
      <vt:lpstr>Inter</vt:lpstr>
      <vt:lpstr>Inter</vt:lpstr>
      <vt:lpstr>Montserrat</vt:lpstr>
      <vt:lpstr>Montserrat</vt:lpstr>
      <vt:lpstr>Montserrat</vt:lpstr>
      <vt:lpstr>Aptos</vt:lpstr>
      <vt:lpstr>Helvetica Neue</vt:lpstr>
      <vt:lpstr>Microsoft YaHei</vt:lpstr>
      <vt:lpstr>汉仪旗黑</vt:lpstr>
      <vt:lpstr>Arial Unicode MS</vt:lpstr>
      <vt:lpstr>Aptos Display</vt:lpstr>
      <vt:lpstr>Calibri</vt:lpstr>
      <vt:lpstr>宋体-简</vt:lpstr>
      <vt:lpstr>Office Theme</vt:lpstr>
      <vt:lpstr>PowerPoint 演示文稿</vt:lpstr>
      <vt:lpstr>The Core Problem</vt:lpstr>
      <vt:lpstr>Proposed Solution</vt:lpstr>
      <vt:lpstr>Data Collection &amp; pre-processing</vt:lpstr>
      <vt:lpstr>Feature Engineering</vt:lpstr>
      <vt:lpstr>Model Architecture</vt:lpstr>
      <vt:lpstr>Training</vt:lpstr>
      <vt:lpstr>Evaluation &amp; Backtesting</vt:lpstr>
      <vt:lpstr>Conclusion &amp; Result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Komal  Kumari</dc:creator>
  <cp:lastModifiedBy>Komal Kumari</cp:lastModifiedBy>
  <cp:revision>4</cp:revision>
  <dcterms:created xsi:type="dcterms:W3CDTF">2026-04-20T03:31:19Z</dcterms:created>
  <dcterms:modified xsi:type="dcterms:W3CDTF">2026-04-20T03:31:19Z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6490CFCA247E2F47079EE569C7CEF94C_42</vt:lpwstr>
  </property>
  <property fmtid="{D5CDD505-2E9C-101B-9397-08002B2CF9AE}" pid="3" name="KSOProductBuildVer">
    <vt:lpwstr>1033-12.1.23155.23155</vt:lpwstr>
  </property>
</Properties>
</file>